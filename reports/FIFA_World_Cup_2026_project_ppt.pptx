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FFFFFF"/>
                </a:solidFill>
                <a:latin typeface="Calibri"/>
              </a:rPr>
              <a:t>Goals Scored by Team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Goals</c:v>
                </c:pt>
              </c:strCache>
            </c:strRef>
          </c:tx>
          <c:spPr>
            <a:solidFill>
              <a:srgbClr val="35E6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5E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5D-412B-8AAC-A0654AB9DCDC}"/>
              </c:ext>
            </c:extLst>
          </c:dPt>
          <c:dPt>
            <c:idx val="1"/>
            <c:invertIfNegative val="0"/>
            <c:bubble3D val="0"/>
            <c:spPr>
              <a:solidFill>
                <a:srgbClr val="35E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5D-412B-8AAC-A0654AB9DCDC}"/>
              </c:ext>
            </c:extLst>
          </c:dPt>
          <c:dPt>
            <c:idx val="2"/>
            <c:invertIfNegative val="0"/>
            <c:bubble3D val="0"/>
            <c:spPr>
              <a:solidFill>
                <a:srgbClr val="35E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5D-412B-8AAC-A0654AB9DCDC}"/>
              </c:ext>
            </c:extLst>
          </c:dPt>
          <c:dPt>
            <c:idx val="3"/>
            <c:invertIfNegative val="0"/>
            <c:bubble3D val="0"/>
            <c:spPr>
              <a:solidFill>
                <a:srgbClr val="35E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5D-412B-8AAC-A0654AB9DCDC}"/>
              </c:ext>
            </c:extLst>
          </c:dPt>
          <c:dPt>
            <c:idx val="4"/>
            <c:invertIfNegative val="0"/>
            <c:bubble3D val="0"/>
            <c:spPr>
              <a:solidFill>
                <a:srgbClr val="35E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5D-412B-8AAC-A0654AB9DCD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England</c:v>
                </c:pt>
                <c:pt idx="1">
                  <c:v>France</c:v>
                </c:pt>
                <c:pt idx="2">
                  <c:v>Argentina</c:v>
                </c:pt>
                <c:pt idx="3">
                  <c:v>Belgium</c:v>
                </c:pt>
                <c:pt idx="4">
                  <c:v>Spain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19</c:v>
                </c:pt>
                <c:pt idx="3">
                  <c:v>14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65D-412B-8AAC-A0654AB9DC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DC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</c:scaling>
        <c:delete val="0"/>
        <c:axPos val="l"/>
        <c:majorGridlines>
          <c:spPr>
            <a:ln w="6350" cap="flat">
              <a:solidFill>
                <a:srgbClr val="2442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DC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Goals conceded</c:v>
                </c:pt>
              </c:strCache>
            </c:strRef>
          </c:tx>
          <c:spPr>
            <a:solidFill>
              <a:srgbClr val="F5D90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England</c:v>
                </c:pt>
                <c:pt idx="1">
                  <c:v>France</c:v>
                </c:pt>
                <c:pt idx="2">
                  <c:v>Argentina</c:v>
                </c:pt>
                <c:pt idx="3">
                  <c:v>Belgium</c:v>
                </c:pt>
                <c:pt idx="4">
                  <c:v>Spain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CE-4B32-ACFF-B879A941EA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Clean sheets</c:v>
                </c:pt>
              </c:strCache>
            </c:strRef>
          </c:tx>
          <c:spPr>
            <a:solidFill>
              <a:srgbClr val="35E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England</c:v>
                </c:pt>
                <c:pt idx="1">
                  <c:v>France</c:v>
                </c:pt>
                <c:pt idx="2">
                  <c:v>Argentina</c:v>
                </c:pt>
                <c:pt idx="3">
                  <c:v>Belgium</c:v>
                </c:pt>
                <c:pt idx="4">
                  <c:v>Spain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CE-4B32-ACFF-B879A941EA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DC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2442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DC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A9BDC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FFFFFF"/>
                </a:solidFill>
                <a:latin typeface="Calibri"/>
              </a:rPr>
              <a:t>Shooting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35E6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56-49DE-8480-3F137ED8337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856-49DE-8480-3F137ED8337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Argentina</c:v>
                </c:pt>
                <c:pt idx="1">
                  <c:v>France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42.45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56-49DE-8480-3F137ED833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DC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2442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DC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21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2346-6EF3-292D-EF61-84556FAF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9D769-F560-A613-3409-6CCDF3C5A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D8679-903B-2718-03FA-5CC11AF7A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9384F-9303-20A2-3115-B188CA166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68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handrapal-solanki67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914400"/>
            <a:ext cx="2560320" cy="2560320"/>
          </a:xfrm>
          <a:prstGeom prst="ellipse">
            <a:avLst/>
          </a:prstGeom>
          <a:solidFill>
            <a:srgbClr val="102536"/>
          </a:solidFill>
          <a:ln w="38100">
            <a:solidFill>
              <a:srgbClr val="35E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1554480"/>
            <a:ext cx="1280160" cy="1280160"/>
          </a:xfrm>
          <a:prstGeom prst="ellipse">
            <a:avLst/>
          </a:prstGeom>
          <a:solidFill>
            <a:srgbClr val="071522"/>
          </a:solidFill>
          <a:ln w="25400">
            <a:solidFill>
              <a:srgbClr val="35E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2194560"/>
            <a:ext cx="2560320" cy="0"/>
          </a:xfrm>
          <a:prstGeom prst="line">
            <a:avLst/>
          </a:prstGeom>
          <a:noFill/>
          <a:ln w="25400">
            <a:solidFill>
              <a:srgbClr val="35E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914400"/>
            <a:ext cx="0" cy="2560320"/>
          </a:xfrm>
          <a:prstGeom prst="line">
            <a:avLst/>
          </a:prstGeom>
          <a:noFill/>
          <a:ln w="25400">
            <a:solidFill>
              <a:srgbClr val="35E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716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Analysis Using MySQL, SQL and Power BI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SQL  •  Power BI  •  DAX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Chandrapal Solanki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tools and outputs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Focus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team performance in the World Cup 2026 dataset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goals conceded, goal difference, wins and draws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goals, assists, clean sheets, shooting accuracy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attendance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Key Outputs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288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with 8 related tables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answering 10 business questions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 and DAX measures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interactive dashboards: Team Performance and Team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team performance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Wins, draws, points, goal difference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attack and defense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scored vs goals conceded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shooting efficiency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977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Shots, shots on target, accuracy, xG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visually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977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Methodology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and analysis workflow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71522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73736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71522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71522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173736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71522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statistics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2402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71522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22402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71522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71522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22402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71522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536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429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34290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2148840" y="34290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536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48840" y="3429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34290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3840480" y="34290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536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3429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34290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5532120" y="34290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536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32120" y="3429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34290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7223760" y="34290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23760" y="3429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questions answered with SQL and Power BI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34440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2344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scored the most goals?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9384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29384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92938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conceded the most goals?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24328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62432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had the highest goal difference?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319272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1927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recorded the most wins?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14216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014216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1421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recorded the most draws?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1234440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12344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players scored the most goals?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929384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1929384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192938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players recorded the most assists?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624328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2624328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262432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had the most clean sheets?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319272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3319272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331927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had the highest shooting accuracy?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4014216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54880" y="4014216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401421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venues had the highest average attendance?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Tournament-Wide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 from the project dataset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94560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46304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194560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6304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194560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from match results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46304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94560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goals per match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154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goals across 104 matches gives 2.96 goals per match (308 ÷ 104)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1,248 player records and approximately 87,000 completed passes in the dataset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come from official FIFA statistics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Performance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scoring teams in the dataset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325880"/>
          <a:ext cx="4663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23444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73736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 and France: 20 goals each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Argentina: 19 goals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Spain: 14 goals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Tournament: 2,571 shots, 887 on target, 223 assists, xG 265.62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Performance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conceded and clean sheets, project dataset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9377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188720"/>
            <a:ext cx="2926080" cy="3246120"/>
          </a:xfrm>
          <a:prstGeom prst="roundRect">
            <a:avLst>
              <a:gd name="adj" fmla="val 2500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691640"/>
            <a:ext cx="2560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Spain: 1 goal conceded and 7 clean sheets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Argentina: 8 conceded, 2 clean sheets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France: 10 conceded, 4 clean sheets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conceded and clean sheets describe results, not tactics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Accuracy and Expected Goals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Shots, shots on target and xG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2,571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48256"/>
            <a:ext cx="1417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shots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28016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1371600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887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048256"/>
            <a:ext cx="1417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on 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28016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1371600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265.62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048256"/>
            <a:ext cx="1417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(xG)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8346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accuracy: shots on target ÷ total shots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on target: shots that test the goalkeeper or score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xG: estimated scoring chance of each shot, summed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Argentina: 46 shots on target; France: 59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1280160"/>
            <a:ext cx="3017520" cy="3154680"/>
          </a:xfrm>
          <a:prstGeom prst="roundRect">
            <a:avLst>
              <a:gd name="adj" fmla="val 2424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graphicFrame>
        <p:nvGraphicFramePr>
          <p:cNvPr id="18" name="Chart 0"/>
          <p:cNvGraphicFramePr/>
          <p:nvPr/>
        </p:nvGraphicFramePr>
        <p:xfrm>
          <a:off x="5760720" y="1371600"/>
          <a:ext cx="28346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5079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Team Performance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outputs only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6883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715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E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715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E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5E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goals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England 20, France 20, Argentina 19, Spain 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5E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 conceded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England 12, France 10, Argentina 8, Belgium 7, Spain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5E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 +11, France +10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5E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 7, France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5E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 7, France 4, Argentina 2, England 2, Belgium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5E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1,248 player records; 294 player-stat goals; 223 assists (totals)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rankings, draws and venue attendance rankings are not shown because their outputs were not verified for this deck.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and Limitations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goal totals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Count Reconciliation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from match results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697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in player statistics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66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D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Difference, consistent with own goals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12080" y="12801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82880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the completeness and accuracy of the project dataset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not official FIFA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Player-stat goals exclude own goals, which is consistent with the 14-goal gap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Recommendations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(descriptive)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 and France scored 20 goals each; Argentina scored 19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Argentina: +11 goal difference, 8 conceded, 7 wins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France: 4 clean sheets and 42.45% shooting accuracy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Spain: 1 goal conceded and 7 clean sheets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average: 2.96 goals per match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D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(not yet completed)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verified event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richer defensive metrics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player-level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 results to interactive insights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713232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28016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results loaded into Power BI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21408"/>
            <a:ext cx="73152" cy="713232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2140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links teams, matches and player statistics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62656"/>
            <a:ext cx="73152" cy="713232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6265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calculate totals, goal difference and accuracy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03904"/>
            <a:ext cx="73152" cy="713232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80390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let users filter by team and compare two teams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1280160"/>
            <a:ext cx="2834640" cy="3163824"/>
          </a:xfrm>
          <a:prstGeom prst="roundRect">
            <a:avLst>
              <a:gd name="adj" fmla="val 258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8288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Overview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Comparison (head-to-head)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"/>
            <a:ext cx="6801729" cy="46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Dashboard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14</a:t>
            </a:r>
            <a:endParaRPr lang="en-US" sz="900" dirty="0"/>
          </a:p>
        </p:txBody>
      </p:sp>
      <p:pic>
        <p:nvPicPr>
          <p:cNvPr id="5" name="Image 0" descr="/mnt/user-data/uploads/Team_performanc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06" y="538358"/>
            <a:ext cx="8060787" cy="39879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overview: goals, xG, points and clean sheets by team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Comparison Dashboard and 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• Team Performance Analysis   |   15</a:t>
            </a:r>
            <a:endParaRPr lang="en-US" sz="900" dirty="0"/>
          </a:p>
        </p:txBody>
      </p:sp>
      <p:pic>
        <p:nvPicPr>
          <p:cNvPr id="5" name="Image 0" descr="/mnt/user-data/uploads/Team_comparisio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394960" cy="30481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414547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view: Argentina vs France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1005840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50876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raw match data into clear performance insights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MySQL, SQL, DAX, data modeling, Power BI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descriptive analysis of attack, defense and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BA938-FC6D-8E0E-EF5F-476A9F0A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D4D00F-14F6-F0BF-0830-4355CB6B0CB1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5E6A0"/>
          </a:solidFill>
          <a:ln w="12700">
            <a:solidFill>
              <a:srgbClr val="35E6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4F3AF0-FEA0-EFB6-62E9-AAE2735E67A0}"/>
              </a:ext>
            </a:extLst>
          </p:cNvPr>
          <p:cNvSpPr txBox="1"/>
          <p:nvPr/>
        </p:nvSpPr>
        <p:spPr>
          <a:xfrm>
            <a:off x="3154680" y="1002325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B06391-BCD4-FE3C-ABD8-08E3A6DDED66}"/>
              </a:ext>
            </a:extLst>
          </p:cNvPr>
          <p:cNvSpPr/>
          <p:nvPr/>
        </p:nvSpPr>
        <p:spPr>
          <a:xfrm>
            <a:off x="1716259" y="2080261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FFF013-4694-3DB8-F422-842921D46D7A}"/>
              </a:ext>
            </a:extLst>
          </p:cNvPr>
          <p:cNvSpPr txBox="1"/>
          <p:nvPr/>
        </p:nvSpPr>
        <p:spPr>
          <a:xfrm>
            <a:off x="1899139" y="2080261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6E7B64-4D27-A2A7-124E-820351DFC18C}"/>
              </a:ext>
            </a:extLst>
          </p:cNvPr>
          <p:cNvSpPr txBox="1"/>
          <p:nvPr/>
        </p:nvSpPr>
        <p:spPr>
          <a:xfrm>
            <a:off x="3087859" y="2080261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https://github.com/chandrapal67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2FF0F0A-E477-AC20-F476-DC02A0726F82}"/>
              </a:ext>
            </a:extLst>
          </p:cNvPr>
          <p:cNvSpPr/>
          <p:nvPr/>
        </p:nvSpPr>
        <p:spPr>
          <a:xfrm>
            <a:off x="1716259" y="2857501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102536"/>
          </a:solidFill>
          <a:ln w="12700">
            <a:solidFill>
              <a:srgbClr val="10253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3C3F93D-CDF9-3D40-39C8-F01853C7EADF}"/>
              </a:ext>
            </a:extLst>
          </p:cNvPr>
          <p:cNvSpPr txBox="1"/>
          <p:nvPr/>
        </p:nvSpPr>
        <p:spPr>
          <a:xfrm>
            <a:off x="1899139" y="2857501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172CD4F-DA3F-D577-E8DE-5F0CF1617FAF}"/>
              </a:ext>
            </a:extLst>
          </p:cNvPr>
          <p:cNvSpPr txBox="1"/>
          <p:nvPr/>
        </p:nvSpPr>
        <p:spPr>
          <a:xfrm>
            <a:off x="3087859" y="2857501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linkedin.com/in/chandrapal-solanki67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4018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1012</Words>
  <Application>Microsoft Office PowerPoint</Application>
  <PresentationFormat>On-screen Show (16:9)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2026: Team Performance Analysis</dc:title>
  <dc:subject>PptxGenJS Presentation</dc:subject>
  <dc:creator>PptxGenJS</dc:creator>
  <cp:lastModifiedBy>chandumain01@gmail.com</cp:lastModifiedBy>
  <cp:revision>3</cp:revision>
  <dcterms:created xsi:type="dcterms:W3CDTF">2026-10-29T05:07:34Z</dcterms:created>
  <dcterms:modified xsi:type="dcterms:W3CDTF">2026-10-29T05:23:58Z</dcterms:modified>
</cp:coreProperties>
</file>